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498"/>
    <p:restoredTop sz="91879"/>
  </p:normalViewPr>
  <p:slideViewPr>
    <p:cSldViewPr snapToGrid="0" snapToObjects="1">
      <p:cViewPr>
        <p:scale>
          <a:sx n="122" d="100"/>
          <a:sy n="122" d="100"/>
        </p:scale>
        <p:origin x="128" y="1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731520"/>
            <a:ext cx="6400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HARDWARE REVERSE ENGINEERING STUDY | POWER ELECTRONICS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685800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EMAFORO 12V DC LED Driver</a:t>
            </a:r>
          </a:p>
          <a:p>
            <a:pPr>
              <a:defRPr sz="2400" b="1">
                <a:solidFill>
                  <a:srgbClr val="93C5FD"/>
                </a:solidFill>
              </a:defRPr>
            </a:pPr>
            <a:r>
              <a:t>Evidence-Based Teardown &amp; Circuit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68580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CBD5E1"/>
                </a:solidFill>
              </a:defRPr>
            </a:pPr>
            <a:r>
              <a:t>An exhaustive physical and architectural teardown answering the central engineering question: 'Why was this product designed this way?' Distinguishing verified physical facts from hypotheses.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383280"/>
            <a:ext cx="2148840" cy="2651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87552" y="3547872"/>
            <a:ext cx="1819656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 b="1">
                <a:solidFill>
                  <a:srgbClr val="38BDF8"/>
                </a:solidFill>
              </a:defRPr>
            </a:pPr>
            <a:r>
              <a:t>TARGET PRODUCT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3886200"/>
            <a:ext cx="1819656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EMAFORO 12V LED Driver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4480560"/>
            <a:ext cx="1819656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CBD5E1"/>
                </a:solidFill>
              </a:defRPr>
            </a:pPr>
            <a:r>
              <a:t>Compact offline AC-to-DC switching converter marked 'EMMS 5MTS LED' and 'ENERGY SAVER' for 12V LED lighting strips.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54679" y="3383280"/>
            <a:ext cx="2148840" cy="2651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319271" y="3547872"/>
            <a:ext cx="1819656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 b="1">
                <a:solidFill>
                  <a:srgbClr val="38BDF8"/>
                </a:solidFill>
              </a:defRPr>
            </a:pPr>
            <a:r>
              <a:t>METHODOLOGY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9271" y="3886200"/>
            <a:ext cx="1819656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Strict Evidence Discipline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19271" y="4480560"/>
            <a:ext cx="1819656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CBD5E1"/>
                </a:solidFill>
              </a:defRPr>
            </a:pPr>
            <a:r>
              <a:t>Rejects hypothetical product generations; grounds every finding in physical photographs, teardown logs, and BOM mapping.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0" y="3383280"/>
            <a:ext cx="2148840" cy="2651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650992" y="3547872"/>
            <a:ext cx="1819656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 b="1">
                <a:solidFill>
                  <a:srgbClr val="38BDF8"/>
                </a:solidFill>
              </a:defRPr>
            </a:pPr>
            <a:r>
              <a:t>DESIGN REASONING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50992" y="3886200"/>
            <a:ext cx="1819656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Cost-Optimized SMPS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50992" y="4480560"/>
            <a:ext cx="1819656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CBD5E1"/>
                </a:solidFill>
              </a:defRPr>
            </a:pPr>
            <a:r>
              <a:rPr dirty="0"/>
              <a:t>Through-hole single-sided PCB (BMS/999A) with discrete magnetic isolation, balancing low BOM cost and practical field installation.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01000" y="822960"/>
            <a:ext cx="3383280" cy="52120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pdf2_p8_img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80" y="1005840"/>
            <a:ext cx="3017520" cy="22631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183880" y="3840480"/>
            <a:ext cx="301752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Subject Product: As-Received State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• Enclosure: White plastic wall-mount module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• Front Label: 'EMAFORO LED DRIVER'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• Application: 'IMTS &lt;= 5MTS Strips LED'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• Output Rating: 'OUTPUT DC/12V'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• Efficiency Claim: 'ENERGY SAVER' marked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6217920"/>
            <a:ext cx="6858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3-Day Reverse Engineering Framework: Teardown • BOM • Functional Schematics • Engineering Reasoning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284C7"/>
                </a:solidFill>
              </a:defRPr>
            </a:pPr>
            <a:r>
              <a:t>MODULE 1 &amp; PART II | EVIDENCE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Physical Inspection &amp; The Evidence vs. Hypothesis Rule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475569"/>
                </a:solidFill>
              </a:defRPr>
            </a:pPr>
            <a:r>
              <a:t>Non-destructive observation and the rejection of undocumented evolutionary claims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4846320" cy="4709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8976" y="1801368"/>
            <a:ext cx="438912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rPr dirty="0"/>
              <a:t>External Physical Characteristics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0591334"/>
              </p:ext>
            </p:extLst>
          </p:nvPr>
        </p:nvGraphicFramePr>
        <p:xfrm>
          <a:off x="960120" y="2240280"/>
          <a:ext cx="438912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Parameter</a:t>
                      </a:r>
                    </a:p>
                  </a:txBody>
                  <a:tcPr marL="73152" marR="73152" marT="54864" marB="54864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rPr lang="en-US" dirty="0"/>
                        <a:t>6.2*5*3cm</a:t>
                      </a:r>
                      <a:endParaRPr dirty="0"/>
                    </a:p>
                  </a:txBody>
                  <a:tcPr marL="73152" marR="73152" marT="54864" marB="54864">
                    <a:solidFill>
                      <a:srgbClr val="1D4E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Form Factor</a:t>
                      </a:r>
                    </a:p>
                  </a:txBody>
                  <a:tcPr marL="73152" marR="73152" marT="54864" marB="54864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Small rectangular white plastic module with mounting tabs</a:t>
                      </a:r>
                    </a:p>
                  </a:txBody>
                  <a:tcPr marL="73152" marR="73152" marT="54864" marB="54864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Connectors</a:t>
                      </a:r>
                    </a:p>
                  </a:txBody>
                  <a:tcPr marL="73152" marR="73152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Two green 2-position screw terminals (CN1 input, CN2 output)</a:t>
                      </a:r>
                    </a:p>
                  </a:txBody>
                  <a:tcPr marL="73152" marR="73152" marT="54864" marB="5486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User Interface</a:t>
                      </a:r>
                    </a:p>
                  </a:txBody>
                  <a:tcPr marL="73152" marR="73152" marT="54864" marB="54864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No external buttons, toggle switches, or LED indicators</a:t>
                      </a:r>
                    </a:p>
                  </a:txBody>
                  <a:tcPr marL="73152" marR="73152" marT="54864" marB="54864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Sensors &amp; Data</a:t>
                      </a:r>
                    </a:p>
                  </a:txBody>
                  <a:tcPr marL="73152" marR="73152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No USB, data buses, or environmental sensors detected</a:t>
                      </a:r>
                    </a:p>
                  </a:txBody>
                  <a:tcPr marL="73152" marR="73152" marT="54864" marB="5486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Thermal Path</a:t>
                      </a:r>
                    </a:p>
                  </a:txBody>
                  <a:tcPr marL="73152" marR="73152" marT="54864" marB="54864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rPr dirty="0"/>
                        <a:t>Enclosed housing without active ventilation slots</a:t>
                      </a:r>
                    </a:p>
                  </a:txBody>
                  <a:tcPr marL="73152" marR="73152" marT="54864" marB="54864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760720" y="1600200"/>
            <a:ext cx="3383280" cy="4709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0" y="1783080"/>
            <a:ext cx="301752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The Evidence-Based Doctrine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2194560"/>
            <a:ext cx="301752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D4ED8"/>
                </a:solidFill>
              </a:defRPr>
            </a:pPr>
            <a:r>
              <a:rPr dirty="0"/>
              <a:t>Evidence vs. Hypothesis: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rPr dirty="0"/>
              <a:t>Only what is physically observable in the hardware is recorded as fact. Operating specs (efficiency, current limits, switching frequency) require active bench measurements.</a:t>
            </a:r>
          </a:p>
          <a:p>
            <a:pPr>
              <a:defRPr sz="400"/>
            </a:pPr>
            <a:endParaRPr dirty="0"/>
          </a:p>
          <a:p>
            <a:pPr>
              <a:defRPr sz="1000" b="1">
                <a:solidFill>
                  <a:srgbClr val="1D4ED8"/>
                </a:solidFill>
              </a:defRPr>
            </a:pPr>
            <a:r>
              <a:rPr dirty="0"/>
              <a:t>Product Evolution (Part II):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rPr dirty="0"/>
              <a:t>Historical research revealed NO earlier (Gen 1) or subsequent (Gen 2/Latest) models from EMAFORO. The report firmly rejects hypothetical industry upgrades as brand history.</a:t>
            </a:r>
          </a:p>
          <a:p>
            <a:pPr>
              <a:defRPr sz="400"/>
            </a:pPr>
            <a:endParaRPr dirty="0"/>
          </a:p>
          <a:p>
            <a:pPr>
              <a:defRPr sz="1000" b="1">
                <a:solidFill>
                  <a:srgbClr val="1D4ED8"/>
                </a:solidFill>
              </a:defRPr>
            </a:pPr>
            <a:r>
              <a:rPr dirty="0"/>
              <a:t>Zero 'Smart' Technologies: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rPr dirty="0"/>
              <a:t>Physical inspection confirms no microcontrollers, RF antennas (Wi-Fi/BLE), or DALI digital lighting buses exist on the board.</a:t>
            </a:r>
          </a:p>
          <a:p>
            <a:pPr>
              <a:defRPr sz="400"/>
            </a:pPr>
            <a:endParaRPr dirty="0"/>
          </a:p>
          <a:p>
            <a:pPr>
              <a:defRPr sz="1000" b="1">
                <a:solidFill>
                  <a:srgbClr val="1D4ED8"/>
                </a:solidFill>
              </a:defRPr>
            </a:pPr>
            <a:r>
              <a:rPr dirty="0"/>
              <a:t>User Expectation: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rPr dirty="0"/>
              <a:t>Stable 12V DC delivery, continuous LED operation, safe galvanic isolation, and easy field screw-terminal wiring at low unit cost.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26880" y="1600200"/>
            <a:ext cx="2130552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pdf2_p8_img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4624" y="1901952"/>
            <a:ext cx="1667256" cy="125044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418320" y="3337560"/>
            <a:ext cx="1947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475569"/>
                </a:solidFill>
              </a:defRPr>
            </a:pPr>
            <a:r>
              <a:t>Green 2-position screw terminals for AC input and 12V DC output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26880" y="3977639"/>
            <a:ext cx="2130552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418320" y="5806440"/>
            <a:ext cx="1947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475569"/>
                </a:solidFill>
              </a:defRPr>
            </a:pPr>
            <a:r>
              <a:t>Rear casing plate showing mounting tabs and internal cavity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85A7186-0B33-DEC3-04A9-C55369293F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6818" y="4191349"/>
            <a:ext cx="1108448" cy="147793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284C7"/>
                </a:solidFill>
              </a:defRPr>
            </a:pPr>
            <a:r>
              <a:t>MODULE 4 &amp; 5 | GUIDED TEARDOWN &amp; SAFETY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Systematic Teardown Sequence &amp; Electrical Safety Protocols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475569"/>
                </a:solidFill>
              </a:defRPr>
            </a:pPr>
            <a:r>
              <a:t>Controlled non-destructive disassembly, stored energy hazards, and ESD protection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3337560" cy="4709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2971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6-Step Teardown Sequence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297180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D4ED8"/>
                </a:solidFill>
              </a:defRPr>
            </a:pPr>
            <a:r>
              <a:t>Step 1: Document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Record external markings, labels ('EMMS 5MTS LED', 12V), and physical dimensions before unsealing.</a:t>
            </a:r>
          </a:p>
          <a:p>
            <a:pPr>
              <a:defRPr sz="300"/>
            </a:pPr>
            <a:endParaRPr/>
          </a:p>
          <a:p>
            <a:pPr>
              <a:defRPr sz="950" b="1">
                <a:solidFill>
                  <a:srgbClr val="1D4ED8"/>
                </a:solidFill>
              </a:defRPr>
            </a:pPr>
            <a:r>
              <a:t>Step 2: Photograph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Baseline multi-angle photographs of enclosure, screw terminals, and mechanical seams.</a:t>
            </a:r>
          </a:p>
          <a:p>
            <a:pPr>
              <a:defRPr sz="300"/>
            </a:pPr>
            <a:endParaRPr/>
          </a:p>
          <a:p>
            <a:pPr>
              <a:defRPr sz="950" b="1">
                <a:solidFill>
                  <a:srgbClr val="1D4ED8"/>
                </a:solidFill>
              </a:defRPr>
            </a:pPr>
            <a:r>
              <a:t>Step 3: Open Enclosure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Non-destructive separation using precision pry tools along the casing seam.</a:t>
            </a:r>
          </a:p>
          <a:p>
            <a:pPr>
              <a:defRPr sz="300"/>
            </a:pPr>
            <a:endParaRPr/>
          </a:p>
          <a:p>
            <a:pPr>
              <a:defRPr sz="950" b="1">
                <a:solidFill>
                  <a:srgbClr val="1D4ED8"/>
                </a:solidFill>
              </a:defRPr>
            </a:pPr>
            <a:r>
              <a:t>Step 4: Photograph Internals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High-resolution photos of PCB component side and bottom copper solder tracks.</a:t>
            </a:r>
          </a:p>
          <a:p>
            <a:pPr>
              <a:defRPr sz="300"/>
            </a:pPr>
            <a:endParaRPr/>
          </a:p>
          <a:p>
            <a:pPr>
              <a:defRPr sz="950" b="1">
                <a:solidFill>
                  <a:srgbClr val="1D4ED8"/>
                </a:solidFill>
              </a:defRPr>
            </a:pPr>
            <a:r>
              <a:t>Step 5: Component ID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Catalog designators (T1, Q1, D1-D7, C1-C5) and inspect semiconductor markings.</a:t>
            </a:r>
          </a:p>
          <a:p>
            <a:pPr>
              <a:defRPr sz="300"/>
            </a:pPr>
            <a:endParaRPr/>
          </a:p>
          <a:p>
            <a:pPr>
              <a:defRPr sz="950" b="1">
                <a:solidFill>
                  <a:srgbClr val="1D4ED8"/>
                </a:solidFill>
              </a:defRPr>
            </a:pPr>
            <a:r>
              <a:t>Step 6: Record &amp; Map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Assemble BOM table and trace interconnects to synthesize functional schematic.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00200"/>
            <a:ext cx="3337560" cy="4709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0" y="1783080"/>
            <a:ext cx="2971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D97706"/>
                </a:solidFill>
              </a:defRPr>
            </a:pPr>
            <a:r>
              <a:t>High-Voltage Safety Protocols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240280"/>
            <a:ext cx="2971800" cy="1669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D97706"/>
                </a:solidFill>
              </a:defRPr>
            </a:pPr>
            <a:r>
              <a:rPr dirty="0"/>
              <a:t>DANGER: Offline Mains Power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rPr dirty="0"/>
              <a:t>The PCB connects directly to AC mains. Disassembly or physical probing while connected to AC line is strictly prohibited.</a:t>
            </a:r>
          </a:p>
          <a:p>
            <a:pPr>
              <a:defRPr sz="400"/>
            </a:pPr>
            <a:endParaRPr dirty="0"/>
          </a:p>
          <a:p>
            <a:pPr>
              <a:defRPr sz="950" b="1">
                <a:solidFill>
                  <a:srgbClr val="D97706"/>
                </a:solidFill>
              </a:defRPr>
            </a:pPr>
            <a:r>
              <a:rPr dirty="0"/>
              <a:t>WARNING: Capacitor Stored Charge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rPr dirty="0"/>
              <a:t>The large bulk electrolytic capacitor (C1) retains lethal DC voltage (&gt;300V rectified mains) long after AC power is removed. Mandatory meter discharge check.</a:t>
            </a:r>
          </a:p>
          <a:p>
            <a:pPr>
              <a:defRPr sz="400"/>
            </a:pPr>
            <a:endParaRPr dirty="0"/>
          </a:p>
          <a:p>
            <a:pPr>
              <a:defRPr sz="950" b="1">
                <a:solidFill>
                  <a:srgbClr val="0F172A"/>
                </a:solidFill>
              </a:defRPr>
            </a:pPr>
            <a:r>
              <a:rPr dirty="0"/>
              <a:t>CAUTION: Galvanic Isolation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rPr dirty="0"/>
              <a:t>Do not assume output is safe (SELV) purely because it is labeled 12V. Verify physical creepage distances and transformer insulation before testing.</a:t>
            </a:r>
          </a:p>
          <a:p>
            <a:pPr>
              <a:defRPr sz="400"/>
            </a:pP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284C7"/>
                </a:solidFill>
              </a:defRPr>
            </a:pPr>
            <a:r>
              <a:t>MODULE 6 | HARDWARE TEARDOWN &amp; BOM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Internal Hardware Analysis &amp; Bill of Materials (BOM)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475569"/>
                </a:solidFill>
              </a:defRPr>
            </a:pPr>
            <a:r>
              <a:t>Physical inventory of single-sided PCB (marked BMS / 999A) and component functional roles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7406640" cy="4709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783080"/>
            <a:ext cx="6949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Component Inventory &amp; Functional Roles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960120" y="2240280"/>
          <a:ext cx="694944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006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Ref.</a:t>
                      </a:r>
                    </a:p>
                  </a:txBody>
                  <a:tcPr marL="54864" marR="54864" marT="36576" marB="36576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Component</a:t>
                      </a:r>
                    </a:p>
                  </a:txBody>
                  <a:tcPr marL="54864" marR="54864" marT="36576" marB="36576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Package</a:t>
                      </a:r>
                    </a:p>
                  </a:txBody>
                  <a:tcPr marL="54864" marR="54864" marT="36576" marB="36576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Observed Role &amp; Circuit Connection</a:t>
                      </a:r>
                    </a:p>
                  </a:txBody>
                  <a:tcPr marL="54864" marR="54864" marT="36576" marB="36576">
                    <a:solidFill>
                      <a:srgbClr val="1D4E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T1</a:t>
                      </a:r>
                    </a:p>
                  </a:txBody>
                  <a:tcPr marL="54864" marR="54864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HF Transformer</a:t>
                      </a:r>
                    </a:p>
                  </a:txBody>
                  <a:tcPr marL="54864" marR="54864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Through-Hole EE/EF</a:t>
                      </a:r>
                    </a:p>
                  </a:txBody>
                  <a:tcPr marL="54864" marR="54864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Galvanic isolation; magnetic energy transfer across primary &amp; secondary</a:t>
                      </a:r>
                    </a:p>
                  </a:txBody>
                  <a:tcPr marL="54864" marR="54864" marT="36576" marB="36576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D1–D7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Rectifier Diodes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Axial Lead Through-Hole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Mains bridge rectification, primary snubber clamping, &amp; secondary 12V output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Q1 / Q2</a:t>
                      </a:r>
                    </a:p>
                  </a:txBody>
                  <a:tcPr marL="54864" marR="54864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Switching Transistors</a:t>
                      </a:r>
                    </a:p>
                  </a:txBody>
                  <a:tcPr marL="54864" marR="54864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Through-Hole TO-92/126</a:t>
                      </a:r>
                    </a:p>
                  </a:txBody>
                  <a:tcPr marL="54864" marR="54864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SMPS primary high-frequency chopper &amp; oscillator control circuitry</a:t>
                      </a:r>
                    </a:p>
                  </a:txBody>
                  <a:tcPr marL="54864" marR="54864" marT="36576" marB="36576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C1 / C5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Electrolytic Caps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Radial Through-Hole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C1: High-voltage rectified bulk storage; C5: Low-ESR 12V output filter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R1–R7</a:t>
                      </a:r>
                    </a:p>
                  </a:txBody>
                  <a:tcPr marL="54864" marR="54864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Resistor Network</a:t>
                      </a:r>
                    </a:p>
                  </a:txBody>
                  <a:tcPr marL="54864" marR="54864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Axial Lead Through-Hole</a:t>
                      </a:r>
                    </a:p>
                  </a:txBody>
                  <a:tcPr marL="54864" marR="54864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Startup bias, primary current sensing, control feedback, and snubber damping</a:t>
                      </a:r>
                    </a:p>
                  </a:txBody>
                  <a:tcPr marL="54864" marR="54864" marT="36576" marB="36576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C3 / C4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Film/Ceramic Caps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Through-Hole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High-frequency switching spike suppression, snubber timing, and EMI filter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CN1/2</a:t>
                      </a:r>
                    </a:p>
                  </a:txBody>
                  <a:tcPr marL="54864" marR="54864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Screw Terminals</a:t>
                      </a:r>
                    </a:p>
                  </a:txBody>
                  <a:tcPr marL="54864" marR="54864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2-Pos Green Terminal</a:t>
                      </a:r>
                    </a:p>
                  </a:txBody>
                  <a:tcPr marL="54864" marR="54864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External field connections (CN1: AC Mains input; CN2: 12V DC LED output)</a:t>
                      </a:r>
                    </a:p>
                  </a:txBody>
                  <a:tcPr marL="54864" marR="54864" marT="36576" marB="36576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321040" y="1600200"/>
            <a:ext cx="3136392" cy="4709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58200" y="5257800"/>
            <a:ext cx="28620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PCB Top View (BMS / 999A Marking)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Through-hole construction with high-frequency transformer T1, bulk electrolytic capacitors, discrete rectifiers, and green terminals.</a:t>
            </a:r>
          </a:p>
        </p:txBody>
      </p:sp>
      <p:pic>
        <p:nvPicPr>
          <p:cNvPr id="11" name="Picture 10" descr="pdf2_p9_img3.jpeg">
            <a:extLst>
              <a:ext uri="{FF2B5EF4-FFF2-40B4-BE49-F238E27FC236}">
                <a16:creationId xmlns:a16="http://schemas.microsoft.com/office/drawing/2014/main" id="{096A3854-946A-29C1-46AD-03977AA64B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1885" y="1783080"/>
            <a:ext cx="2569995" cy="34266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284C7"/>
                </a:solidFill>
              </a:defRPr>
            </a:pPr>
            <a:r>
              <a:t>MODULE 7 | CIRCUIT TOPOLOGY &amp;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Functional Block Diagram &amp; Power Conversion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475569"/>
                </a:solidFill>
              </a:defRPr>
            </a:pPr>
            <a:r>
              <a:t>Tracing electrical energy conversion from mains AC input to isolated 12V DC output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243584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86384" y="1719072"/>
            <a:ext cx="1133856" cy="11338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D4ED8"/>
                </a:solidFill>
              </a:defRPr>
            </a:pPr>
            <a:r>
              <a:t>1. AC Mains</a:t>
            </a:r>
          </a:p>
          <a:p>
            <a:pPr>
              <a:defRPr sz="800" b="1">
                <a:solidFill>
                  <a:srgbClr val="0F172A"/>
                </a:solidFill>
              </a:defRPr>
            </a:pPr>
            <a:r>
              <a:t>Terminal CN1</a:t>
            </a:r>
          </a:p>
          <a:p>
            <a:pPr>
              <a:defRPr sz="750">
                <a:solidFill>
                  <a:srgbClr val="475569"/>
                </a:solidFill>
              </a:defRPr>
            </a:pPr>
            <a:r>
              <a:t>85–265V AC input from building 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84832" y="1645920"/>
            <a:ext cx="1243584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139696" y="1719072"/>
            <a:ext cx="1133856" cy="11338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D4ED8"/>
                </a:solidFill>
              </a:defRPr>
            </a:pPr>
            <a:r>
              <a:t>2. Bridge Rectifier</a:t>
            </a:r>
          </a:p>
          <a:p>
            <a:pPr>
              <a:defRPr sz="800" b="1">
                <a:solidFill>
                  <a:srgbClr val="0F172A"/>
                </a:solidFill>
              </a:defRPr>
            </a:pPr>
            <a:r>
              <a:t>Diodes D1–D4</a:t>
            </a:r>
          </a:p>
          <a:p>
            <a:pPr>
              <a:defRPr sz="750">
                <a:solidFill>
                  <a:srgbClr val="475569"/>
                </a:solidFill>
              </a:defRPr>
            </a:pPr>
            <a:r>
              <a:t>Converts AC to pulsating high-voltage DC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38144" y="1645920"/>
            <a:ext cx="1243584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93008" y="1719072"/>
            <a:ext cx="1133856" cy="11338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D4ED8"/>
                </a:solidFill>
              </a:defRPr>
            </a:pPr>
            <a:r>
              <a:t>3. Bulk DC Filter</a:t>
            </a:r>
          </a:p>
          <a:p>
            <a:pPr>
              <a:defRPr sz="800" b="1">
                <a:solidFill>
                  <a:srgbClr val="0F172A"/>
                </a:solidFill>
              </a:defRPr>
            </a:pPr>
            <a:r>
              <a:t>Capacitor C1</a:t>
            </a:r>
          </a:p>
          <a:p>
            <a:pPr>
              <a:defRPr sz="750">
                <a:solidFill>
                  <a:srgbClr val="475569"/>
                </a:solidFill>
              </a:defRPr>
            </a:pPr>
            <a:r>
              <a:t>Smooths DC rail to ~300V reservoir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91456" y="1645920"/>
            <a:ext cx="1243584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46320" y="1719072"/>
            <a:ext cx="1133856" cy="11338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284C7"/>
                </a:solidFill>
              </a:defRPr>
            </a:pPr>
            <a:r>
              <a:t>4. HF Switching</a:t>
            </a:r>
          </a:p>
          <a:p>
            <a:pPr>
              <a:defRPr sz="800" b="1">
                <a:solidFill>
                  <a:srgbClr val="0F172A"/>
                </a:solidFill>
              </a:defRPr>
            </a:pPr>
            <a:r>
              <a:t>Transistors Q1/Q2</a:t>
            </a:r>
          </a:p>
          <a:p>
            <a:pPr>
              <a:defRPr sz="750">
                <a:solidFill>
                  <a:srgbClr val="475569"/>
                </a:solidFill>
              </a:defRPr>
            </a:pPr>
            <a:r>
              <a:t>Chops DC at high frequency (tens of kHz)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44768" y="1645920"/>
            <a:ext cx="1243584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99632" y="1719072"/>
            <a:ext cx="1133856" cy="11338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D97706"/>
                </a:solidFill>
              </a:defRPr>
            </a:pPr>
            <a:r>
              <a:t>5. Isolation Trans.</a:t>
            </a:r>
          </a:p>
          <a:p>
            <a:pPr>
              <a:defRPr sz="800" b="1">
                <a:solidFill>
                  <a:srgbClr val="0F172A"/>
                </a:solidFill>
              </a:defRPr>
            </a:pPr>
            <a:r>
              <a:t>Transformer T1</a:t>
            </a:r>
          </a:p>
          <a:p>
            <a:pPr>
              <a:defRPr sz="750">
                <a:solidFill>
                  <a:srgbClr val="475569"/>
                </a:solidFill>
              </a:defRPr>
            </a:pPr>
            <a:r>
              <a:t>Galvanic barrier &amp; magnetic energy transfer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80" y="1645920"/>
            <a:ext cx="1243584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552944" y="1719072"/>
            <a:ext cx="1133856" cy="11338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284C7"/>
                </a:solidFill>
              </a:defRPr>
            </a:pPr>
            <a:r>
              <a:t>6. Sec. Rectifier</a:t>
            </a:r>
          </a:p>
          <a:p>
            <a:pPr>
              <a:defRPr sz="800" b="1">
                <a:solidFill>
                  <a:srgbClr val="0F172A"/>
                </a:solidFill>
              </a:defRPr>
            </a:pPr>
            <a:r>
              <a:t>Diodes D5–D7</a:t>
            </a:r>
          </a:p>
          <a:p>
            <a:pPr>
              <a:defRPr sz="750">
                <a:solidFill>
                  <a:srgbClr val="475569"/>
                </a:solidFill>
              </a:defRPr>
            </a:pPr>
            <a:r>
              <a:t>Rectifies high-frequency secondary pulses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51392" y="1645920"/>
            <a:ext cx="1243584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906256" y="1719072"/>
            <a:ext cx="1133856" cy="11338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D4ED8"/>
                </a:solidFill>
              </a:defRPr>
            </a:pPr>
            <a:r>
              <a:t>7. Output Filter</a:t>
            </a:r>
          </a:p>
          <a:p>
            <a:pPr>
              <a:defRPr sz="800" b="1">
                <a:solidFill>
                  <a:srgbClr val="0F172A"/>
                </a:solidFill>
              </a:defRPr>
            </a:pPr>
            <a:r>
              <a:t>Capacitor C5</a:t>
            </a:r>
          </a:p>
          <a:p>
            <a:pPr>
              <a:defRPr sz="750">
                <a:solidFill>
                  <a:srgbClr val="475569"/>
                </a:solidFill>
              </a:defRPr>
            </a:pPr>
            <a:r>
              <a:t>Smooths ripple to stable 12V DC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204704" y="1645920"/>
            <a:ext cx="1243584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259568" y="1719072"/>
            <a:ext cx="1133856" cy="11338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6A34A"/>
                </a:solidFill>
              </a:defRPr>
            </a:pPr>
            <a:r>
              <a:t>8. 12V LED Load</a:t>
            </a:r>
          </a:p>
          <a:p>
            <a:pPr>
              <a:defRPr sz="800" b="1">
                <a:solidFill>
                  <a:srgbClr val="0F172A"/>
                </a:solidFill>
              </a:defRPr>
            </a:pPr>
            <a:r>
              <a:t>Terminal CN2</a:t>
            </a:r>
          </a:p>
          <a:p>
            <a:pPr>
              <a:defRPr sz="750">
                <a:solidFill>
                  <a:srgbClr val="475569"/>
                </a:solidFill>
              </a:defRPr>
            </a:pPr>
            <a:r>
              <a:t>Powers LED lighting strip (up to 5m)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154680"/>
            <a:ext cx="7132320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60120" y="3337560"/>
            <a:ext cx="6675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rPr dirty="0"/>
              <a:t>SMPS Working Principle &amp; Architecture Insights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3794760"/>
            <a:ext cx="6675120" cy="11849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D4ED8"/>
                </a:solidFill>
              </a:defRPr>
            </a:pPr>
            <a:r>
              <a:rPr dirty="0"/>
              <a:t>• Why SMPS</a:t>
            </a:r>
            <a:r>
              <a:rPr lang="en-US" dirty="0"/>
              <a:t>(Switched mode power supply)</a:t>
            </a:r>
            <a:r>
              <a:rPr dirty="0"/>
              <a:t> over Linear Regulation? 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rPr dirty="0"/>
              <a:t>Operating at high switching frequency (tens of kHz) enables a miniature ferrite transformer (T1) instead of a heavy, bulky 50/60 Hz mains iron core, reducing weight, enclosure size, and copper costs.</a:t>
            </a:r>
          </a:p>
          <a:p>
            <a:pPr>
              <a:defRPr sz="300"/>
            </a:pPr>
            <a:endParaRPr dirty="0"/>
          </a:p>
          <a:p>
            <a:pPr>
              <a:defRPr sz="950" b="1">
                <a:solidFill>
                  <a:srgbClr val="1D4ED8"/>
                </a:solidFill>
              </a:defRPr>
            </a:pPr>
            <a:r>
              <a:rPr dirty="0"/>
              <a:t>• Galvanic Safety Isolation: 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rPr dirty="0"/>
              <a:t>The transformer core and primary-secondary board spacing form the physical safety barrier protecting the low-voltage 12V output from dangerous AC mains voltages.</a:t>
            </a:r>
          </a:p>
          <a:p>
            <a:pPr>
              <a:defRPr sz="300"/>
            </a:pPr>
            <a:endParaRPr dirty="0"/>
          </a:p>
          <a:p>
            <a:pPr>
              <a:defRPr sz="950" b="1">
                <a:solidFill>
                  <a:srgbClr val="1D4ED8"/>
                </a:solidFill>
              </a:defRPr>
            </a:pPr>
            <a:r>
              <a:rPr dirty="0"/>
              <a:t>• No Digital / Smart Overhead: 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rPr dirty="0"/>
              <a:t>Confirmed absence of microcontrollers, Bluetooth/Wi-Fi modules, or DALI protocols. It is a dedicated, self-contained AC-to-DC power converter.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3154680"/>
            <a:ext cx="3410712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183879" y="5806440"/>
            <a:ext cx="31363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475569"/>
                </a:solidFill>
              </a:defRPr>
            </a:pPr>
            <a:r>
              <a:t>PCB Solder / Track Side: Single-sided copper traces with visible primary-secondary creepage separation.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15D78016-F321-FF92-FC35-F20B513CF3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6177" y="3429000"/>
            <a:ext cx="1891796" cy="221529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284C7"/>
                </a:solidFill>
              </a:defRPr>
            </a:pPr>
            <a:r>
              <a:t>CONCLUSIONS &amp; LEVEL 5 REASONING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Engineering Trade-Offs, 5 Levels of Thinking,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475569"/>
                </a:solidFill>
              </a:defRPr>
            </a:pPr>
            <a:r>
              <a:t>Uncovering designer compromises, applying cognitive levels, and defining quantitative test plans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3337560" cy="4709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2971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Key Engineering Trade-offs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297180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D4ED8"/>
                </a:solidFill>
              </a:defRPr>
            </a:pPr>
            <a:r>
              <a:t>Cost vs. Advanced Protection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A discrete through-hole design keeps bill-of-materials and manufacturing costs minimal, but lacks sophisticated active PFC, over-voltage latching, and digital diagnostics found in industrial drivers.</a:t>
            </a:r>
          </a:p>
          <a:p>
            <a:pPr>
              <a:defRPr sz="300"/>
            </a:pPr>
            <a:endParaRPr/>
          </a:p>
          <a:p>
            <a:pPr>
              <a:defRPr sz="950" b="1">
                <a:solidFill>
                  <a:srgbClr val="1D4ED8"/>
                </a:solidFill>
              </a:defRPr>
            </a:pPr>
            <a:r>
              <a:t>Form Factor vs. Thermals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A compact unvented plastic enclosure shields users from shock and fits easily in tight spaces, but limits natural convective heat dissipation under high ambient loads.</a:t>
            </a:r>
          </a:p>
          <a:p>
            <a:pPr>
              <a:defRPr sz="300"/>
            </a:pPr>
            <a:endParaRPr/>
          </a:p>
          <a:p>
            <a:pPr>
              <a:defRPr sz="950" b="1">
                <a:solidFill>
                  <a:srgbClr val="1D4ED8"/>
                </a:solidFill>
              </a:defRPr>
            </a:pPr>
            <a:r>
              <a:t>Through-Hole vs. SMD Density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Using through-hole components allows simpler single-sided wave soldering and lower PCB fabrication costs, accepting larger board area than modern SMD assemblies.</a:t>
            </a:r>
          </a:p>
          <a:p>
            <a:pPr>
              <a:defRPr sz="300"/>
            </a:pPr>
            <a:endParaRPr/>
          </a:p>
          <a:p>
            <a:pPr>
              <a:defRPr sz="950" b="1">
                <a:solidFill>
                  <a:srgbClr val="1D4ED8"/>
                </a:solidFill>
              </a:defRPr>
            </a:pPr>
            <a:r>
              <a:t>Efficiency Claims vs. Reality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The 'ENERGY SAVER' label reflects marketing positioning; true electrical efficiency requires quantitative wattmeter benchmarking.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00200"/>
            <a:ext cx="3337560" cy="4709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0" y="1783080"/>
            <a:ext cx="2971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284C7"/>
                </a:solidFill>
              </a:defRPr>
            </a:pPr>
            <a:r>
              <a:t>The 5 Levels of Thinking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240280"/>
            <a:ext cx="297180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284C7"/>
                </a:solidFill>
              </a:defRPr>
            </a:pPr>
            <a:r>
              <a:t>Level 1: Observation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White plastic casing, green screw terminals, transformer, capacitors, resistors, and diodes.</a:t>
            </a:r>
          </a:p>
          <a:p>
            <a:pPr>
              <a:defRPr sz="300"/>
            </a:pPr>
            <a:endParaRPr/>
          </a:p>
          <a:p>
            <a:pPr>
              <a:defRPr sz="950" b="1">
                <a:solidFill>
                  <a:srgbClr val="0284C7"/>
                </a:solidFill>
              </a:defRPr>
            </a:pPr>
            <a:r>
              <a:t>Level 2: Identification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Segregating board into input, switching, isolation transformer, and output filter stages.</a:t>
            </a:r>
          </a:p>
          <a:p>
            <a:pPr>
              <a:defRPr sz="300"/>
            </a:pPr>
            <a:endParaRPr/>
          </a:p>
          <a:p>
            <a:pPr>
              <a:defRPr sz="950" b="1">
                <a:solidFill>
                  <a:srgbClr val="0284C7"/>
                </a:solidFill>
              </a:defRPr>
            </a:pPr>
            <a:r>
              <a:t>Level 3: Specification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Enclosure label establishes 12V DC output for 5m LED strips; current rating unstated.</a:t>
            </a:r>
          </a:p>
          <a:p>
            <a:pPr>
              <a:defRPr sz="300"/>
            </a:pPr>
            <a:endParaRPr/>
          </a:p>
          <a:p>
            <a:pPr>
              <a:defRPr sz="950" b="1">
                <a:solidFill>
                  <a:srgbClr val="0284C7"/>
                </a:solidFill>
              </a:defRPr>
            </a:pPr>
            <a:r>
              <a:t>Level 4: Functional Understanding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Converts mains AC into high-frequency pulses through magnetic core to deliver smooth DC.</a:t>
            </a:r>
          </a:p>
          <a:p>
            <a:pPr>
              <a:defRPr sz="300"/>
            </a:pPr>
            <a:endParaRPr/>
          </a:p>
          <a:p>
            <a:pPr>
              <a:defRPr sz="950" b="1">
                <a:solidFill>
                  <a:srgbClr val="D97706"/>
                </a:solidFill>
              </a:defRPr>
            </a:pPr>
            <a:r>
              <a:t>Level 5: Engineering Reasoning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THE CORE GOAL: Deciphering designer compromises across unit cost, safety isolation, thermal limits, and high-volume production.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00200"/>
            <a:ext cx="3337560" cy="4709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0" y="1783080"/>
            <a:ext cx="2971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6A34A"/>
                </a:solidFill>
              </a:defRPr>
            </a:pPr>
            <a:r>
              <a:t>Laboratory Test Roadmap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240280"/>
            <a:ext cx="297180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6A34A"/>
                </a:solidFill>
              </a:defRPr>
            </a:pPr>
            <a:r>
              <a:t>1. Part Markings &amp; Decapping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Magnified optical inspection or decapping of Q1/Q2 and D1-D7 to confirm exact silicon part numbers and datasheets.</a:t>
            </a:r>
          </a:p>
          <a:p>
            <a:pPr>
              <a:defRPr sz="300"/>
            </a:pPr>
            <a:endParaRPr/>
          </a:p>
          <a:p>
            <a:pPr>
              <a:defRPr sz="950" b="1">
                <a:solidFill>
                  <a:srgbClr val="16A34A"/>
                </a:solidFill>
              </a:defRPr>
            </a:pPr>
            <a:r>
              <a:t>2. Schematic Netlist Tracing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Underside copper continuity probing to draft an exact SPICE/KiCad schematic netlist and feedback loop.</a:t>
            </a:r>
          </a:p>
          <a:p>
            <a:pPr>
              <a:defRPr sz="300"/>
            </a:pPr>
            <a:endParaRPr/>
          </a:p>
          <a:p>
            <a:pPr>
              <a:defRPr sz="950" b="1">
                <a:solidFill>
                  <a:srgbClr val="16A34A"/>
                </a:solidFill>
              </a:defRPr>
            </a:pPr>
            <a:r>
              <a:t>3. Oscilloscope Waveform Probing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Measure primary switching frequency, drain/collector ringing, snubber damping, and secondary output voltage ripple.</a:t>
            </a:r>
          </a:p>
          <a:p>
            <a:pPr>
              <a:defRPr sz="300"/>
            </a:pPr>
            <a:endParaRPr/>
          </a:p>
          <a:p>
            <a:pPr>
              <a:defRPr sz="950" b="1">
                <a:solidFill>
                  <a:srgbClr val="16A34A"/>
                </a:solidFill>
              </a:defRPr>
            </a:pPr>
            <a:r>
              <a:t>4. Load Bench Characterization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Test with 1m–5m 12V LED strips under electronic DC load to measure efficiency (%), voltage droop, and thermal heat rise.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83589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1488</Words>
  <Application>Microsoft Macintosh PowerPoint</Application>
  <PresentationFormat>Widescreen</PresentationFormat>
  <Paragraphs>197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PRANJAL SHUKLA</cp:lastModifiedBy>
  <cp:revision>5</cp:revision>
  <dcterms:created xsi:type="dcterms:W3CDTF">2013-01-27T09:14:16Z</dcterms:created>
  <dcterms:modified xsi:type="dcterms:W3CDTF">2026-10-09T12:20:34Z</dcterms:modified>
  <cp:category/>
</cp:coreProperties>
</file>